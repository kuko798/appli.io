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27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699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watch?v=CDPpn9Wsl_M&amp;list=PPSV&amp;t=4s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5943600" cy="5029200"/>
          </a:xfrm>
          <a:prstGeom prst="ellipse">
            <a:avLst/>
          </a:prstGeom>
          <a:solidFill>
            <a:srgbClr val="7C6DED">
              <a:alpha val="10000"/>
            </a:srgbClr>
          </a:solidFill>
          <a:ln w="12700">
            <a:solidFill>
              <a:srgbClr val="7C6DED">
                <a:alpha val="500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621792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635508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Presented to Transcend UW  ·  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972800" y="64922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4444"/>
                </a:solidFill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"/>
            <a:ext cx="2487168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5800"/>
            <a:ext cx="12188952" cy="0"/>
          </a:xfrm>
          <a:prstGeom prst="line">
            <a:avLst/>
          </a:prstGeom>
          <a:noFill/>
          <a:ln w="12700">
            <a:solidFill>
              <a:srgbClr val="7C6DED">
                <a:alpha val="4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804672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C6DED"/>
                </a:solidFill>
              </a:rPr>
              <a:t>WHY NOW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107899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kern="0" spc="-30" dirty="0">
                <a:solidFill>
                  <a:srgbClr val="F0F0F0"/>
                </a:solidFill>
              </a:rPr>
              <a:t>The job market has never been more overwhelming.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16161F"/>
          </a:solidFill>
          <a:ln w="12700">
            <a:solidFill>
              <a:srgbClr val="2525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226771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263347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</a:rPr>
              <a:t>Application volume is exploding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2926080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99999"/>
                </a:solidFill>
              </a:rPr>
              <a:t>Job seekers now send 100+ applications per cycle to compete. The volume is too high to track manually.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15968" y="21031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16161F"/>
          </a:solidFill>
          <a:ln w="12700">
            <a:solidFill>
              <a:srgbClr val="2525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98848" y="226771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498848" y="263347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</a:rPr>
              <a:t>AI is now cheap enough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498848" y="2926080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99999"/>
                </a:solidFill>
              </a:rPr>
              <a:t>LLMs like DeepSeek V3 can classify emails for fractions of a cent. This infrastructure didn't exist two years ago.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074152" y="21031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16161F"/>
          </a:solidFill>
          <a:ln w="12700">
            <a:solidFill>
              <a:srgbClr val="25253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57032" y="226771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📬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257032" y="263347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</a:rPr>
              <a:t>Gmail is universal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57032" y="2926080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99999"/>
                </a:solidFill>
              </a:rPr>
              <a:t>Nearly every job seeker uses Gmail. It holds the full paper trail of their search — we just need to read it.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48640" y="4434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99999"/>
                </a:solidFill>
              </a:rPr>
              <a:t>Spreadsheets and platform-specific trackers were built for a different era. Appli.io is built for now.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972800" y="64922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4444"/>
                </a:solidFill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61" y="91440"/>
            <a:ext cx="1778468" cy="6538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5800"/>
            <a:ext cx="12188952" cy="0"/>
          </a:xfrm>
          <a:prstGeom prst="line">
            <a:avLst/>
          </a:prstGeom>
          <a:noFill/>
          <a:ln w="12700">
            <a:solidFill>
              <a:srgbClr val="7C6DED">
                <a:alpha val="4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804672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C6DED"/>
                </a:solidFill>
              </a:rPr>
              <a:t>PROBLEM STATEMENT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107899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kern="0" spc="-30" dirty="0">
                <a:solidFill>
                  <a:srgbClr val="F0F0F0"/>
                </a:solidFill>
              </a:rPr>
              <a:t>Job seekers are flying blind through their own search.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0" cy="777240"/>
          </a:xfrm>
          <a:prstGeom prst="line">
            <a:avLst/>
          </a:prstGeom>
          <a:noFill/>
          <a:ln w="12700">
            <a:solidFill>
              <a:srgbClr val="7C6D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2029968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i="1" dirty="0">
                <a:solidFill>
                  <a:srgbClr val="CCCCCC"/>
                </a:solidFill>
              </a:rPr>
              <a:t>"I applied to 80 companies last month. I can't remember half of them — or if any wrote back."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127248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16161F"/>
          </a:solidFill>
          <a:ln w="12700">
            <a:solidFill>
              <a:srgbClr val="25253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32918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🗂️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31520" y="365760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</a:rPr>
              <a:t>Spreadsheets don't scale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3950208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99999"/>
                </a:solidFill>
              </a:rPr>
              <a:t>Manual entry takes hours. People stop updating after week one. You can't track what you don't log.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15968" y="3127248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16161F"/>
          </a:solidFill>
          <a:ln w="12700">
            <a:solidFill>
              <a:srgbClr val="2525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98848" y="32918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498848" y="365760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</a:rPr>
              <a:t>Platform trackers are silos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498848" y="3950208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99999"/>
                </a:solidFill>
              </a:rPr>
              <a:t>Jobright and Teal only see applications on their platform — a fraction of where people actually apply.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74152" y="3127248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16161F"/>
          </a:solidFill>
          <a:ln w="12700">
            <a:solidFill>
              <a:srgbClr val="25253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57032" y="32918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🔕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257032" y="365760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</a:rPr>
              <a:t>Missed opportunities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57032" y="3950208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99999"/>
                </a:solidFill>
              </a:rPr>
              <a:t>A rejection slips by unread. A follow-up window closes. An interview invite buried under newsletters.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0972800" y="64922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4444"/>
                </a:solidFill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"/>
            <a:ext cx="1856232" cy="68243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5800"/>
            <a:ext cx="12188952" cy="0"/>
          </a:xfrm>
          <a:prstGeom prst="line">
            <a:avLst/>
          </a:prstGeom>
          <a:noFill/>
          <a:ln w="12700">
            <a:solidFill>
              <a:srgbClr val="7C6DED">
                <a:alpha val="4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804672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C6DED"/>
                </a:solidFill>
              </a:rPr>
              <a:t>SOLUTION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107899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kern="0" spc="-30" dirty="0">
                <a:solidFill>
                  <a:srgbClr val="F0F0F0"/>
                </a:solidFill>
              </a:rPr>
              <a:t>One extension. Every application. Zero manual work.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2084832"/>
            <a:ext cx="2788920" cy="2377440"/>
          </a:xfrm>
          <a:prstGeom prst="roundRect">
            <a:avLst>
              <a:gd name="adj" fmla="val 4615"/>
            </a:avLst>
          </a:prstGeom>
          <a:solidFill>
            <a:srgbClr val="16161F"/>
          </a:solidFill>
          <a:ln w="12700">
            <a:solidFill>
              <a:srgbClr val="25253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2212848"/>
            <a:ext cx="402336" cy="402336"/>
          </a:xfrm>
          <a:prstGeom prst="ellipse">
            <a:avLst/>
          </a:prstGeom>
          <a:solidFill>
            <a:srgbClr val="7C6DED">
              <a:alpha val="12000"/>
            </a:srgbClr>
          </a:solidFill>
          <a:ln w="12700">
            <a:solidFill>
              <a:srgbClr val="7C6D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2221992"/>
            <a:ext cx="402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6DED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6974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</a:rPr>
              <a:t>Connect Gmail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2999232"/>
            <a:ext cx="24231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99999"/>
                </a:solidFill>
              </a:rPr>
              <a:t>OAuth2 read-only. Pull up to a year of application emails in one click.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383280" y="306324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</a:rPr>
              <a:t>→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456432" y="2084832"/>
            <a:ext cx="2788920" cy="2377440"/>
          </a:xfrm>
          <a:prstGeom prst="roundRect">
            <a:avLst>
              <a:gd name="adj" fmla="val 4615"/>
            </a:avLst>
          </a:prstGeom>
          <a:solidFill>
            <a:srgbClr val="16161F"/>
          </a:solidFill>
          <a:ln w="12700">
            <a:solidFill>
              <a:srgbClr val="25253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0" y="2212848"/>
            <a:ext cx="402336" cy="402336"/>
          </a:xfrm>
          <a:prstGeom prst="ellipse">
            <a:avLst/>
          </a:prstGeom>
          <a:solidFill>
            <a:srgbClr val="7C6DED">
              <a:alpha val="12000"/>
            </a:srgbClr>
          </a:solidFill>
          <a:ln w="12700">
            <a:solidFill>
              <a:srgbClr val="7C6D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0" y="2221992"/>
            <a:ext cx="402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6DED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639312" y="26974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</a:rPr>
              <a:t>AI Classifies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639312" y="2999232"/>
            <a:ext cx="24231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99999"/>
                </a:solidFill>
              </a:rPr>
              <a:t>A local LLM reads each email and assigns Applied, Interview, Offer, or Rejected with a reason.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291072" y="306324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</a:rPr>
              <a:t>→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364224" y="2084832"/>
            <a:ext cx="2788920" cy="2377440"/>
          </a:xfrm>
          <a:prstGeom prst="roundRect">
            <a:avLst>
              <a:gd name="adj" fmla="val 4615"/>
            </a:avLst>
          </a:prstGeom>
          <a:solidFill>
            <a:srgbClr val="16161F"/>
          </a:solidFill>
          <a:ln w="12700">
            <a:solidFill>
              <a:srgbClr val="25253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65392" y="2212848"/>
            <a:ext cx="402336" cy="402336"/>
          </a:xfrm>
          <a:prstGeom prst="ellipse">
            <a:avLst/>
          </a:prstGeom>
          <a:solidFill>
            <a:srgbClr val="7C6DED">
              <a:alpha val="12000"/>
            </a:srgbClr>
          </a:solidFill>
          <a:ln w="12700">
            <a:solidFill>
              <a:srgbClr val="7C6DE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65392" y="2221992"/>
            <a:ext cx="402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6DED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547104" y="26974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</a:rPr>
              <a:t>Dashboard fills in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547104" y="2999232"/>
            <a:ext cx="24231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99999"/>
                </a:solidFill>
              </a:rPr>
              <a:t>Company, role, status, and date populate automatically. Filterable and always current.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198864" y="306324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</a:rPr>
              <a:t>→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9272016" y="2084832"/>
            <a:ext cx="2788920" cy="2377440"/>
          </a:xfrm>
          <a:prstGeom prst="roundRect">
            <a:avLst>
              <a:gd name="adj" fmla="val 4615"/>
            </a:avLst>
          </a:prstGeom>
          <a:solidFill>
            <a:srgbClr val="16161F"/>
          </a:solidFill>
          <a:ln w="12700">
            <a:solidFill>
              <a:srgbClr val="25253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473184" y="2212848"/>
            <a:ext cx="402336" cy="402336"/>
          </a:xfrm>
          <a:prstGeom prst="ellipse">
            <a:avLst/>
          </a:prstGeom>
          <a:solidFill>
            <a:srgbClr val="7C6DED">
              <a:alpha val="12000"/>
            </a:srgbClr>
          </a:solidFill>
          <a:ln w="12700">
            <a:solidFill>
              <a:srgbClr val="7C6DE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473184" y="2221992"/>
            <a:ext cx="402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6DED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9454896" y="26974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</a:rPr>
              <a:t>Go deeper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454896" y="2999232"/>
            <a:ext cx="24231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99999"/>
                </a:solidFill>
              </a:rPr>
              <a:t>Resume diagnostic, interview simulator, company deep scan, and AI follow-up generator built in.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48640" y="4681728"/>
            <a:ext cx="1581912" cy="310896"/>
          </a:xfrm>
          <a:prstGeom prst="roundRect">
            <a:avLst>
              <a:gd name="adj" fmla="val 23529"/>
            </a:avLst>
          </a:prstGeom>
          <a:solidFill>
            <a:srgbClr val="1A1A26"/>
          </a:solidFill>
          <a:ln w="12700">
            <a:solidFill>
              <a:srgbClr val="2E2E3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8368" y="4709160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</a:rPr>
              <a:t>Auto email sync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240280" y="4681728"/>
            <a:ext cx="1750162" cy="310896"/>
          </a:xfrm>
          <a:prstGeom prst="roundRect">
            <a:avLst>
              <a:gd name="adj" fmla="val 23529"/>
            </a:avLst>
          </a:prstGeom>
          <a:solidFill>
            <a:srgbClr val="1A1A26"/>
          </a:solidFill>
          <a:ln w="12700">
            <a:solidFill>
              <a:srgbClr val="2E2E3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350008" y="4709160"/>
            <a:ext cx="16130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</a:rPr>
              <a:t>AI classification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100170" y="4681728"/>
            <a:ext cx="1750162" cy="310896"/>
          </a:xfrm>
          <a:prstGeom prst="roundRect">
            <a:avLst>
              <a:gd name="adj" fmla="val 23529"/>
            </a:avLst>
          </a:prstGeom>
          <a:solidFill>
            <a:srgbClr val="1A1A26"/>
          </a:solidFill>
          <a:ln w="12700">
            <a:solidFill>
              <a:srgbClr val="2E2E3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209898" y="4709160"/>
            <a:ext cx="16130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</a:rPr>
              <a:t>Resume diagnostic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960059" y="4681728"/>
            <a:ext cx="1918411" cy="310896"/>
          </a:xfrm>
          <a:prstGeom prst="roundRect">
            <a:avLst>
              <a:gd name="adj" fmla="val 23529"/>
            </a:avLst>
          </a:prstGeom>
          <a:solidFill>
            <a:srgbClr val="1A1A26"/>
          </a:solidFill>
          <a:ln w="12700">
            <a:solidFill>
              <a:srgbClr val="2E2E3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069787" y="4709160"/>
            <a:ext cx="178125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</a:rPr>
              <a:t>Interview simulator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7988198" y="4681728"/>
            <a:ext cx="1750162" cy="310896"/>
          </a:xfrm>
          <a:prstGeom prst="roundRect">
            <a:avLst>
              <a:gd name="adj" fmla="val 23529"/>
            </a:avLst>
          </a:prstGeom>
          <a:solidFill>
            <a:srgbClr val="1A1A26"/>
          </a:solidFill>
          <a:ln w="12700">
            <a:solidFill>
              <a:srgbClr val="2E2E3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097926" y="4709160"/>
            <a:ext cx="16130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</a:rPr>
              <a:t>Company deep scan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9848088" y="4681728"/>
            <a:ext cx="1918411" cy="310896"/>
          </a:xfrm>
          <a:prstGeom prst="roundRect">
            <a:avLst>
              <a:gd name="adj" fmla="val 23529"/>
            </a:avLst>
          </a:prstGeom>
          <a:solidFill>
            <a:srgbClr val="1A1A26"/>
          </a:solidFill>
          <a:ln w="12700">
            <a:solidFill>
              <a:srgbClr val="2E2E3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957816" y="4709160"/>
            <a:ext cx="178125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</a:rPr>
              <a:t>Follow-up generator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11876227" y="4681728"/>
            <a:ext cx="3348533" cy="310896"/>
          </a:xfrm>
          <a:prstGeom prst="roundRect">
            <a:avLst>
              <a:gd name="adj" fmla="val 23529"/>
            </a:avLst>
          </a:prstGeom>
          <a:solidFill>
            <a:srgbClr val="1A1A26"/>
          </a:solidFill>
          <a:ln w="12700">
            <a:solidFill>
              <a:srgbClr val="2E2E3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1985955" y="4709160"/>
            <a:ext cx="321137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</a:rPr>
              <a:t>Greenhouse · Lever · Workday · Ashby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0972800" y="64922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4444"/>
                </a:solidFill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1"/>
            <a:ext cx="1741017" cy="640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5800"/>
            <a:ext cx="12188952" cy="0"/>
          </a:xfrm>
          <a:prstGeom prst="line">
            <a:avLst/>
          </a:prstGeom>
          <a:noFill/>
          <a:ln w="12700">
            <a:solidFill>
              <a:srgbClr val="7C6DED">
                <a:alpha val="4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804672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C6DED"/>
                </a:solidFill>
              </a:rPr>
              <a:t>DEMO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107899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kern="0" spc="-30" dirty="0">
                <a:solidFill>
                  <a:srgbClr val="F0F0F0"/>
                </a:solidFill>
              </a:rPr>
              <a:t>See it in action.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303520" y="2468880"/>
            <a:ext cx="15819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2286000" y="3794760"/>
            <a:ext cx="7616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5000"/>
              </a:lnSpc>
              <a:buNone/>
            </a:pP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0" y="64922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4444"/>
                </a:solidFill>
              </a:rPr>
              <a:t>5 / 10</a:t>
            </a:r>
            <a:endParaRPr lang="en-US" sz="9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DAF765-6828-4B6B-997B-8EACE278541A}"/>
              </a:ext>
            </a:extLst>
          </p:cNvPr>
          <p:cNvSpPr txBox="1"/>
          <p:nvPr/>
        </p:nvSpPr>
        <p:spPr>
          <a:xfrm>
            <a:off x="822121" y="2066544"/>
            <a:ext cx="83260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hlinkClick r:id="rId4"/>
              </a:rPr>
              <a:t>Appli.io Debut - YouTube</a:t>
            </a:r>
            <a:endParaRPr lang="en-US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"/>
            <a:ext cx="1815622" cy="6675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5800"/>
            <a:ext cx="12188952" cy="0"/>
          </a:xfrm>
          <a:prstGeom prst="line">
            <a:avLst/>
          </a:prstGeom>
          <a:noFill/>
          <a:ln w="12700">
            <a:solidFill>
              <a:srgbClr val="7C6DED">
                <a:alpha val="4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804672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C6DED"/>
                </a:solidFill>
              </a:rPr>
              <a:t>REVENUE MODEL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107899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kern="0" spc="-30" dirty="0">
                <a:solidFill>
                  <a:srgbClr val="F0F0F0"/>
                </a:solidFill>
              </a:rPr>
              <a:t>Freemium to premium.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2084832"/>
            <a:ext cx="11091672" cy="347472"/>
          </a:xfrm>
          <a:prstGeom prst="rect">
            <a:avLst/>
          </a:prstGeom>
          <a:solidFill>
            <a:srgbClr val="1A1A26"/>
          </a:solidFill>
          <a:ln w="12700">
            <a:solidFill>
              <a:srgbClr val="2525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1305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55555"/>
                </a:solidFill>
              </a:rPr>
              <a:t>Tier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651760" y="21305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55555"/>
                </a:solidFill>
              </a:rPr>
              <a:t>Price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0" y="21305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55555"/>
                </a:solidFill>
              </a:rPr>
              <a:t>What's included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542032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16161F"/>
          </a:solidFill>
          <a:ln w="12700">
            <a:solidFill>
              <a:srgbClr val="2525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63347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</a:rPr>
              <a:t>Free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651760" y="261518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6DED"/>
                </a:solidFill>
              </a:rPr>
              <a:t>$0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029200" y="2633472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999999"/>
                </a:solidFill>
              </a:rPr>
              <a:t>Gmail sync, dashboard, up to 30 days of history, auto-log on job boards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639312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16161F"/>
          </a:solidFill>
          <a:ln w="12700">
            <a:solidFill>
              <a:srgbClr val="25253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7307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</a:rPr>
              <a:t>Pro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651760" y="371246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6DED"/>
                </a:solidFill>
              </a:rPr>
              <a:t>$9.99/mo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029200" y="3730752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999999"/>
                </a:solidFill>
              </a:rPr>
              <a:t>Full year history, resume diagnostic, interview simulator, company deep scan, AI follow-up generator, unlimited LLM classifications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4736592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16161F"/>
          </a:solidFill>
          <a:ln w="12700">
            <a:solidFill>
              <a:srgbClr val="25253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482803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</a:rPr>
              <a:t>Annual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651760" y="48097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6DED"/>
                </a:solidFill>
              </a:rPr>
              <a:t>$79/yr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029200" y="4828032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999999"/>
                </a:solidFill>
              </a:rPr>
              <a:t>Everything in Pro — 34% savings. Targets serious job seekers in active search cycles.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589788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</a:rPr>
              <a:t>1,000 paying users at $9.99/mo = $9,990 MRR  ·  Low churn — users stay active for their entire search cycle.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972800" y="64922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4444"/>
                </a:solidFill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"/>
            <a:ext cx="1797761" cy="66094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5800"/>
            <a:ext cx="12188952" cy="0"/>
          </a:xfrm>
          <a:prstGeom prst="line">
            <a:avLst/>
          </a:prstGeom>
          <a:noFill/>
          <a:ln w="12700">
            <a:solidFill>
              <a:srgbClr val="7C6DED">
                <a:alpha val="4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804672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C6DED"/>
                </a:solidFill>
              </a:rPr>
              <a:t>TRACTION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107899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kern="0" spc="-30" dirty="0">
                <a:solidFill>
                  <a:srgbClr val="F0F0F0"/>
                </a:solidFill>
              </a:rPr>
              <a:t>We already built it.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2029968"/>
            <a:ext cx="2679192" cy="2011680"/>
          </a:xfrm>
          <a:prstGeom prst="roundRect">
            <a:avLst>
              <a:gd name="adj" fmla="val 5455"/>
            </a:avLst>
          </a:prstGeom>
          <a:solidFill>
            <a:srgbClr val="16161F"/>
          </a:solidFill>
          <a:ln w="12700">
            <a:solidFill>
              <a:srgbClr val="2525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21945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2560320"/>
            <a:ext cx="2359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</a:rPr>
              <a:t>Working MVP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2852928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99999"/>
                </a:solidFill>
              </a:rPr>
              <a:t>Full Chrome extension with Gmail sync, AI classification, and live dashboard.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64992" y="2029968"/>
            <a:ext cx="2679192" cy="2011680"/>
          </a:xfrm>
          <a:prstGeom prst="roundRect">
            <a:avLst>
              <a:gd name="adj" fmla="val 5455"/>
            </a:avLst>
          </a:prstGeom>
          <a:solidFill>
            <a:srgbClr val="16161F"/>
          </a:solidFill>
          <a:ln w="12700">
            <a:solidFill>
              <a:srgbClr val="2525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47872" y="21945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547872" y="2560320"/>
            <a:ext cx="2359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</a:rPr>
              <a:t>AI pipeline live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547872" y="2852928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99999"/>
                </a:solidFill>
              </a:rPr>
              <a:t>Two-stage classifier: fast keyword pass + DeepSeek V3 LLM with retry, cache, and queue.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81344" y="2029968"/>
            <a:ext cx="2679192" cy="2011680"/>
          </a:xfrm>
          <a:prstGeom prst="roundRect">
            <a:avLst>
              <a:gd name="adj" fmla="val 5455"/>
            </a:avLst>
          </a:prstGeom>
          <a:solidFill>
            <a:srgbClr val="16161F"/>
          </a:solidFill>
          <a:ln w="12700">
            <a:solidFill>
              <a:srgbClr val="25253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64224" y="21945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364224" y="2560320"/>
            <a:ext cx="2359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</a:rPr>
              <a:t>Resume diagnostic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64224" y="2852928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99999"/>
                </a:solidFill>
              </a:rPr>
              <a:t>Accepts PDF, DOCX, TXT. Scores every bullet 1–10 with AI-rewritten alternatives.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997696" y="2029968"/>
            <a:ext cx="2679192" cy="2011680"/>
          </a:xfrm>
          <a:prstGeom prst="roundRect">
            <a:avLst>
              <a:gd name="adj" fmla="val 5455"/>
            </a:avLst>
          </a:prstGeom>
          <a:solidFill>
            <a:srgbClr val="16161F"/>
          </a:solidFill>
          <a:ln w="12700">
            <a:solidFill>
              <a:srgbClr val="25253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80576" y="21945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🎤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9180576" y="2560320"/>
            <a:ext cx="2359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</a:rPr>
              <a:t>Interview simulator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180576" y="2852928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99999"/>
                </a:solidFill>
              </a:rPr>
              <a:t>AI interviewer with speech recognition, TTS, webcam input, and filler word tracking.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005840" y="425196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7C6DED"/>
                </a:solidFill>
              </a:rPr>
              <a:t>4</a:t>
            </a:r>
            <a:endParaRPr lang="en-US" sz="5200" dirty="0"/>
          </a:p>
        </p:txBody>
      </p:sp>
      <p:sp>
        <p:nvSpPr>
          <p:cNvPr id="23" name="Text 20"/>
          <p:cNvSpPr/>
          <p:nvPr/>
        </p:nvSpPr>
        <p:spPr>
          <a:xfrm>
            <a:off x="1005840" y="50474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999999"/>
                </a:solidFill>
              </a:rPr>
              <a:t>Job boards auto-logged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999999"/>
                </a:solidFill>
              </a:rPr>
              <a:t>(Greenhouse, Lever, Workday, Ashby)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663440" y="425196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7C6DED"/>
                </a:solidFill>
              </a:rPr>
              <a:t>5</a:t>
            </a:r>
            <a:endParaRPr lang="en-US" sz="5200" dirty="0"/>
          </a:p>
        </p:txBody>
      </p:sp>
      <p:sp>
        <p:nvSpPr>
          <p:cNvPr id="25" name="Text 22"/>
          <p:cNvSpPr/>
          <p:nvPr/>
        </p:nvSpPr>
        <p:spPr>
          <a:xfrm>
            <a:off x="4663440" y="50474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999999"/>
                </a:solidFill>
              </a:rPr>
              <a:t>AI-powered features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999999"/>
                </a:solidFill>
              </a:rPr>
              <a:t>shipped at launch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321040" y="425196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7C6DED"/>
                </a:solidFill>
              </a:rPr>
              <a:t>$0</a:t>
            </a:r>
            <a:endParaRPr lang="en-US" sz="5200" dirty="0"/>
          </a:p>
        </p:txBody>
      </p:sp>
      <p:sp>
        <p:nvSpPr>
          <p:cNvPr id="27" name="Text 24"/>
          <p:cNvSpPr/>
          <p:nvPr/>
        </p:nvSpPr>
        <p:spPr>
          <a:xfrm>
            <a:off x="8321040" y="50474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999999"/>
                </a:solidFill>
              </a:rPr>
              <a:t>Infrastructure cost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999999"/>
                </a:solidFill>
              </a:rPr>
              <a:t>in MVP phase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972800" y="64922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4444"/>
                </a:solidFill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0"/>
            <a:ext cx="2066208" cy="7596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5800"/>
            <a:ext cx="12188952" cy="0"/>
          </a:xfrm>
          <a:prstGeom prst="line">
            <a:avLst/>
          </a:prstGeom>
          <a:noFill/>
          <a:ln w="12700">
            <a:solidFill>
              <a:srgbClr val="7C6DED">
                <a:alpha val="4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804672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C6DED"/>
                </a:solidFill>
              </a:rPr>
              <a:t>MARKET OPPORTUNITY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107899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kern="0" spc="-30" dirty="0">
                <a:solidFill>
                  <a:srgbClr val="F0F0F0"/>
                </a:solidFill>
              </a:rPr>
              <a:t>A massive market with no dominant solution.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365760" y="1737360"/>
            <a:ext cx="3474720" cy="3474720"/>
          </a:xfrm>
          <a:prstGeom prst="ellipse">
            <a:avLst/>
          </a:prstGeom>
          <a:solidFill>
            <a:srgbClr val="7C6DED">
              <a:alpha val="15000"/>
            </a:srgbClr>
          </a:solidFill>
          <a:ln w="12700">
            <a:solidFill>
              <a:srgbClr val="7C6D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243230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7C6DED"/>
                </a:solidFill>
              </a:rPr>
              <a:t>TAM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305775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F0F0"/>
                </a:solidFill>
              </a:rPr>
              <a:t>$28B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365760" y="389168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999999"/>
                </a:solidFill>
              </a:rPr>
              <a:t>Global HR &amp; job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999999"/>
                </a:solidFill>
              </a:rPr>
              <a:t>seeker tools market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023360" y="2286000"/>
            <a:ext cx="2834640" cy="2834640"/>
          </a:xfrm>
          <a:prstGeom prst="ellipse">
            <a:avLst/>
          </a:prstGeom>
          <a:solidFill>
            <a:srgbClr val="A855F7">
              <a:alpha val="1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23360" y="28529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A855F7"/>
                </a:solidFill>
              </a:rPr>
              <a:t>SAM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023360" y="3363163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F0F0"/>
                </a:solidFill>
              </a:rPr>
              <a:t>$4.2B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023360" y="4043477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999999"/>
                </a:solidFill>
              </a:rPr>
              <a:t>US Gmail + Chrome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999999"/>
                </a:solidFill>
              </a:rPr>
              <a:t>active job seekers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040880" y="2743200"/>
            <a:ext cx="2286000" cy="2286000"/>
          </a:xfrm>
          <a:prstGeom prst="ellipse">
            <a:avLst/>
          </a:prstGeom>
          <a:solidFill>
            <a:srgbClr val="F472B6">
              <a:alpha val="15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40880" y="32004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472B6"/>
                </a:solidFill>
              </a:rPr>
              <a:t>SOM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040880" y="3611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F0F0"/>
                </a:solidFill>
              </a:rPr>
              <a:t>$180M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040880" y="4160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999999"/>
                </a:solidFill>
              </a:rPr>
              <a:t>College students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999999"/>
                </a:solidFill>
              </a:rPr>
              <a:t>&amp; recent grads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509760" y="21945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99999"/>
                </a:solidFill>
              </a:rPr>
              <a:t>LinkedIn Premium generates $1.7B/yr from job seekers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99999"/>
                </a:solidFill>
              </a:rPr>
              <a:t>alone — and it doesn't track a single application.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509760" y="33832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99999"/>
                </a:solidFill>
              </a:rPr>
              <a:t>There is no dominant AI-native tracker in the Chrome Store today. The window is wide open.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5577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Year 1 target: college students &amp; recent grads (SOM)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972800" y="64922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4444"/>
                </a:solidFill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"/>
            <a:ext cx="1730649" cy="6362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85800"/>
            <a:ext cx="12188952" cy="0"/>
          </a:xfrm>
          <a:prstGeom prst="line">
            <a:avLst/>
          </a:prstGeom>
          <a:noFill/>
          <a:ln w="12700">
            <a:solidFill>
              <a:srgbClr val="7C6DED">
                <a:alpha val="4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804672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C6DED"/>
                </a:solidFill>
              </a:rPr>
              <a:t>THE TEAM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107899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kern="0" spc="-30" dirty="0">
                <a:solidFill>
                  <a:srgbClr val="F0F0F0"/>
                </a:solidFill>
              </a:rPr>
              <a:t>Built by people who lived the problem.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1993392"/>
            <a:ext cx="5577840" cy="3383280"/>
          </a:xfrm>
          <a:prstGeom prst="roundRect">
            <a:avLst>
              <a:gd name="adj" fmla="val 3784"/>
            </a:avLst>
          </a:prstGeom>
          <a:solidFill>
            <a:srgbClr val="16161F"/>
          </a:solidFill>
          <a:ln w="12700">
            <a:solidFill>
              <a:srgbClr val="25253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804672" y="2139696"/>
            <a:ext cx="1024128" cy="1024128"/>
          </a:xfrm>
          <a:prstGeom prst="ellipse">
            <a:avLst/>
          </a:prstGeom>
          <a:solidFill>
            <a:srgbClr val="7C6DED">
              <a:alpha val="18000"/>
            </a:srgbClr>
          </a:solidFill>
          <a:ln w="12700">
            <a:solidFill>
              <a:srgbClr val="7C6D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2157984"/>
            <a:ext cx="10241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04672" y="3255264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0"/>
                </a:solidFill>
              </a:rPr>
              <a:t>Kobe </a:t>
            </a:r>
            <a:r>
              <a:rPr lang="en-US" sz="1600" b="1" dirty="0" err="1">
                <a:solidFill>
                  <a:srgbClr val="F0F0F0"/>
                </a:solidFill>
              </a:rPr>
              <a:t>Uko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" y="360273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6DED"/>
                </a:solidFill>
              </a:rPr>
              <a:t>Co-Founder · Software Engineer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4672" y="3913632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99999"/>
                </a:solidFill>
              </a:rPr>
              <a:t>CS major at University of Wisconsin-Madison. Serial Job applier.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4672" y="5029200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00800" y="1993392"/>
            <a:ext cx="5577840" cy="3383280"/>
          </a:xfrm>
          <a:prstGeom prst="roundRect">
            <a:avLst>
              <a:gd name="adj" fmla="val 3784"/>
            </a:avLst>
          </a:prstGeom>
          <a:solidFill>
            <a:srgbClr val="16161F"/>
          </a:solidFill>
          <a:ln w="12700">
            <a:solidFill>
              <a:srgbClr val="25253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6656832" y="2139696"/>
            <a:ext cx="1024128" cy="1024128"/>
          </a:xfrm>
          <a:prstGeom prst="ellipse">
            <a:avLst/>
          </a:prstGeom>
          <a:solidFill>
            <a:srgbClr val="7C6DED">
              <a:alpha val="18000"/>
            </a:srgbClr>
          </a:solidFill>
          <a:ln w="12700">
            <a:solidFill>
              <a:srgbClr val="7C6D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57792" y="1249680"/>
            <a:ext cx="10241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656832" y="3255264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0"/>
                </a:solidFill>
              </a:rPr>
              <a:t>Pranab Adhikari 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656832" y="360273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6DED"/>
                </a:solidFill>
              </a:rPr>
              <a:t>Co-Founder · Software Engineer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656832" y="3913632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99999"/>
                </a:solidFill>
              </a:rPr>
              <a:t>CS major at University of Wisconsin-Madison. 2x UW-Madison Transcend Participant. Love for Start-ups.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656832" y="5029200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8640" y="5577840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Both founders went through the exact grind Appli.io solves — hundreds of applications, lost in their own inbox.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972800" y="64922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4444"/>
                </a:solidFill>
              </a:rPr>
              <a:t>9 / 10</a:t>
            </a:r>
            <a:endParaRPr lang="en-US" sz="9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A8F7D19-6400-4835-B753-4396EEEF7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270" y="2093976"/>
            <a:ext cx="1343245" cy="1115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1193959-AA18-4A45-8DB9-D1B28A734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2152" y="652398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00"/>
            <a:ext cx="12188952" cy="0"/>
          </a:xfrm>
          <a:prstGeom prst="line">
            <a:avLst/>
          </a:prstGeom>
          <a:noFill/>
          <a:ln w="12700">
            <a:solidFill>
              <a:srgbClr val="7C6DED">
                <a:alpha val="4500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"/>
            <a:ext cx="2487168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804672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C6DED"/>
                </a:solidFill>
              </a:rPr>
              <a:t>ROADMAP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107899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kern="0" spc="-30" dirty="0">
                <a:solidFill>
                  <a:srgbClr val="F0F0F0"/>
                </a:solidFill>
              </a:rPr>
              <a:t>Where we're going.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02920" y="2066544"/>
            <a:ext cx="182880" cy="182880"/>
          </a:xfrm>
          <a:prstGeom prst="ellipse">
            <a:avLst/>
          </a:prstGeom>
          <a:solidFill>
            <a:srgbClr val="7C6DED"/>
          </a:solidFill>
          <a:ln w="12700">
            <a:solidFill>
              <a:srgbClr val="7C6DE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9788" y="2267712"/>
            <a:ext cx="0" cy="768096"/>
          </a:xfrm>
          <a:prstGeom prst="line">
            <a:avLst/>
          </a:prstGeom>
          <a:noFill/>
          <a:ln w="12700">
            <a:solidFill>
              <a:srgbClr val="25253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20299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6DED"/>
                </a:solidFill>
              </a:rPr>
              <a:t>Q2 2026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176272" y="202996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</a:rPr>
              <a:t>Chrome Store launch + beta users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176272" y="2322576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99999"/>
                </a:solidFill>
              </a:rPr>
              <a:t>Public release, onboard first 500 users, gather feedback on classification accuracy and UX.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3090672"/>
            <a:ext cx="182880" cy="182880"/>
          </a:xfrm>
          <a:prstGeom prst="ellipse">
            <a:avLst/>
          </a:prstGeom>
          <a:solidFill>
            <a:srgbClr val="7C6DED"/>
          </a:solidFill>
          <a:ln w="12700">
            <a:solidFill>
              <a:srgbClr val="7C6DE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9788" y="3291840"/>
            <a:ext cx="0" cy="768096"/>
          </a:xfrm>
          <a:prstGeom prst="line">
            <a:avLst/>
          </a:prstGeom>
          <a:noFill/>
          <a:ln w="12700">
            <a:solidFill>
              <a:srgbClr val="2525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" y="305409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6DED"/>
                </a:solidFill>
              </a:rPr>
              <a:t>Q3 2026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176272" y="3054096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</a:rPr>
              <a:t>Pro tier + monetization live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176272" y="3346704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99999"/>
                </a:solidFill>
              </a:rPr>
              <a:t>Stripe integration, Pro unlock for resume diagnostic, interview simulator, and deep scan. First revenue.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2920" y="4114800"/>
            <a:ext cx="182880" cy="182880"/>
          </a:xfrm>
          <a:prstGeom prst="ellipse">
            <a:avLst/>
          </a:prstGeom>
          <a:solidFill>
            <a:srgbClr val="7C6DED"/>
          </a:solidFill>
          <a:ln w="12700">
            <a:solidFill>
              <a:srgbClr val="7C6D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89788" y="4315968"/>
            <a:ext cx="0" cy="768096"/>
          </a:xfrm>
          <a:prstGeom prst="line">
            <a:avLst/>
          </a:prstGeom>
          <a:noFill/>
          <a:ln w="12700">
            <a:solidFill>
              <a:srgbClr val="25253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4672" y="407822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6DED"/>
                </a:solidFill>
              </a:rPr>
              <a:t>Q4 2026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176272" y="4078224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</a:rPr>
              <a:t>University career center partnerships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176272" y="437083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99999"/>
                </a:solidFill>
              </a:rPr>
              <a:t>B2B licensing to career centers — institutions pay per-student to give their grads an edge.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2920" y="5138928"/>
            <a:ext cx="182880" cy="182880"/>
          </a:xfrm>
          <a:prstGeom prst="ellipse">
            <a:avLst/>
          </a:prstGeom>
          <a:solidFill>
            <a:srgbClr val="7C6DED"/>
          </a:solidFill>
          <a:ln w="12700">
            <a:solidFill>
              <a:srgbClr val="7C6D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4672" y="51023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6DED"/>
                </a:solidFill>
              </a:rPr>
              <a:t>2027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176272" y="510235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0"/>
                </a:solidFill>
              </a:rPr>
              <a:t>Outlook + mobile companion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2176272" y="539496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99999"/>
                </a:solidFill>
              </a:rPr>
              <a:t>Expand beyond Gmail. Mobile app for status checks and interview prep on the go.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0972800" y="64922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4444"/>
                </a:solidFill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855</Words>
  <Application>Microsoft Office PowerPoint</Application>
  <PresentationFormat>Widescreen</PresentationFormat>
  <Paragraphs>152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Patron</cp:lastModifiedBy>
  <cp:revision>3</cp:revision>
  <dcterms:created xsi:type="dcterms:W3CDTF">2026-03-29T05:17:04Z</dcterms:created>
  <dcterms:modified xsi:type="dcterms:W3CDTF">2026-03-29T05:30:19Z</dcterms:modified>
</cp:coreProperties>
</file>